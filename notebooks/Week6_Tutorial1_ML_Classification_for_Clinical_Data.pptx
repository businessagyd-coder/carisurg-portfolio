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  <p:sldMasterId id="2147483674" r:id="rId2"/>
    <p:sldMasterId id="2147483686" r:id="rId3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5" r:id="rId12"/>
    <p:sldId id="264" r:id="rId13"/>
  </p:sldIdLst>
  <p:sldSz cx="9144000" cy="5143500" type="screen16x9"/>
  <p:notesSz cx="5143500" cy="9144000"/>
  <p:embeddedFontLst>
    <p:embeddedFont>
      <p:font typeface="Aptos Black" panose="020B0004020202020204" pitchFamily="34" charset="0"/>
      <p:bold r:id="rId15"/>
      <p:boldItalic r:id="rId16"/>
    </p:embeddedFont>
    <p:embeddedFont>
      <p:font typeface="Cambria" panose="02040503050406030204" pitchFamily="18" charset="0"/>
      <p:regular r:id="rId17"/>
      <p:bold r:id="rId18"/>
      <p:italic r:id="rId19"/>
      <p:boldItalic r:id="rId20"/>
    </p:embeddedFont>
    <p:embeddedFont>
      <p:font typeface="Consolas" panose="020B0609020204030204" pitchFamily="49" charset="0"/>
      <p:regular r:id="rId21"/>
      <p:bold r:id="rId22"/>
      <p:italic r:id="rId23"/>
      <p:boldItalic r:id="rId24"/>
    </p:embeddedFont>
    <p:embeddedFont>
      <p:font typeface="Play" panose="020B0604020202020204" charset="0"/>
      <p:regular r:id="rId25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0" roundtripDataSignature="AMtx7mghtFENXVS/89bPjLCzI+VExXNE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9A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458" autoAdjust="0"/>
  </p:normalViewPr>
  <p:slideViewPr>
    <p:cSldViewPr snapToGrid="0">
      <p:cViewPr varScale="1">
        <p:scale>
          <a:sx n="110" d="100"/>
          <a:sy n="110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7.fntdata"/><Relationship Id="rId42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10.fntdata"/><Relationship Id="rId40" Type="http://customschemas.google.com/relationships/presentationmetadata" Target="metadata"/><Relationship Id="rId5" Type="http://schemas.openxmlformats.org/officeDocument/2006/relationships/slide" Target="slides/slide2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7.xml"/><Relationship Id="rId19" Type="http://schemas.openxmlformats.org/officeDocument/2006/relationships/font" Target="fonts/font5.fntdata"/><Relationship Id="rId44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6" name="Google Shape;236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the whole week: classification = sorting into fixed labelled boxes. Our boxes are the 5 ESI levels. Contrast with regression (predicting a number). Keep it concrete — point at the five cards. Ask: 'what clues would YOU use to sort a patient?' to tee up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from the Week 0 triage pseudocode. The key mental shift: instead of a human hand-coding IF/ELSE thresholds, the model infers the decision boundaries from labelled data. Emphasise it is the SAME task (produce an ESI level) — only the source of the rules changes. This de-mystifies ML for non-coders.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mental model students should carry all term: features → model → prediction → evaluation. Map it forward: Tutorial 2 does features→model→prediction; Tutorial 3 does evaluation. Everything else is detail hung on this spine.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ESI plainly: a 5-level scale a triage nurse assigns. Stress it is the label (y) and it is a legitimate clinical ground truth because a professional assigned it. Lower number = more urgent — students routinely get this backwards, so drill it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properties define the difficulty. Multi-class: 5 outcomes not 2. Imbalanced: ESI 3 is ~half the data, ESI 1 a few percent. Plant the seed: a lazy model that always says '3' looks decent on accuracy but is clinically dangerous. Numbers shown are illustrative of the cohort's cleaned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the two baselines without code — let the pictures do the work. Logistic regression lays down ONE straight boundary (it sums weighted features, so scaling matters); the tree is a branching flowchart of yes/no cuts (it compares one feature to a threshold, so scaling doesn't). Both output an ESI level. This exact contrast returns as a hands-on task in Tutorial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disciplines: stratified split (protects the rare ESI 1), fixed random_state (reproducibility — a recurring theme), and leakage prevention. Give the leakage story concretely: 'disposition' is decided after triage; using it is cheating and the model dies in production. This sets up the FEATURES cell in Tutorial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TIME: 3 min
🎯 GOAL: Close the tutorial with crisp, non-negotiable pre-work. No "any questions?" — students leave with three specific things to do.
🗣 TALKING POINTS:
• Walk through the three pre-work items. Each one must be done before Tutorial 2 or the next session is blocked for that student.
• Repo public: this is portfolio-visible — that is the whole point of putting it on GitHub.
• A commit on a branch (not main): this proves they internalised the branching rule.
• A merged PR: this proves they did the whole loop end-to-end.
• Posting the URL in #cohort-2026 is the soft check — tutors will scan the channel before Tutorial 2 to flag anyone who has not posted.
• Tutorial 2 picks up directly from here: now that you have a repo, what should be in it and how should it be organised.
❓ ASK THE ROOM:
• "Anything genuinely blocking you from finishing the pre-work in the next 24 hours?"
• Listen for: laptop access, GitHub authentication issues, or any conceptual gap. Triage in Discord after the session — do not solve in the closing minutes.
⚠ WATCH FOR:
• The student who nods through the close but has not actually opened a terminal all session. Catch them in Discord with a friendly check-in — better now than at Tutorial 2.
• Do not end on "see you next time". End on the three deliverables. The deck closes on action, not pleasantries.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D7F0E-01FC-4A36-059C-1061AB00E5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94BCFB-C3B2-390E-92B3-C0789E7447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CC85D-F917-5DBD-BAF6-95737B0A3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9D9B0216-CDA5-43BA-B590-109297C10AEB}" type="datetime1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04/07/2026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4D1FD-BC40-3753-EEE0-90F2035E6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DEF35-A6A6-40EE-5374-589148E48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0BF7E06-BFB6-42FF-83A6-3140C504A50B}" type="slidenum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83258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A76B4-5E13-8EB5-BD2C-24720DB7D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16F4D-DACD-7E16-6D4D-100CE3747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13D2B-48EF-3BA9-F424-F6AD84F3F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19A59A3A-728B-4799-88EF-EA96285375FB}" type="datetime1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04/07/2026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792A6-D955-0045-D685-F5BF68241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BDB38-8930-0764-85CC-667F1A48D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0BF7E06-BFB6-42FF-83A6-3140C504A50B}" type="slidenum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50588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F3733-5759-5653-504F-99C8D1101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8D1CF-9572-5DEE-1DDC-4E7D15FC3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D77C5-9ADE-5414-D311-05A4E3010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3DBA2268-4C06-4291-BA42-B516A2498287}" type="datetime1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04/07/2026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1ED0A-B417-814D-D6F6-66E6CACF5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09B32-8687-0C94-9D03-54F39B5D2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0BF7E06-BFB6-42FF-83A6-3140C504A50B}" type="slidenum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86510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2B84F-DE2F-47AD-245D-9BC27CDF9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0D451-E929-6EC8-72DE-1007F3F0F8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8A4B74-686E-1F59-7170-C982CDC687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1CCA8C-E33F-CFE6-AF64-E4F6AB63F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5E96E690-B95D-4A21-95AD-C839D7131E67}" type="datetime1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04/07/2026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429591-1790-1163-1F31-E47029579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7B297-DC86-4B1E-0CAB-6064C14B4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0BF7E06-BFB6-42FF-83A6-3140C504A50B}" type="slidenum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52578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1C574-1761-10D5-C4B7-3A1B669A2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FD781A-F08C-599A-2CE2-F4ACE0DDEC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1ECE8B-A784-0278-C812-5A6D99D73D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C5D5F3-0B69-30A1-10AD-4C0263D67A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A06A8D-2ADF-C0D5-BAAF-8854D9482B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015E54-5ADD-1FF0-D56B-F9F5C73D6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760FFFB1-1903-4581-8E61-7BB6C8FA1EB6}" type="datetime1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04/07/2026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51384B-FEA4-C139-9766-E69C4BC95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DB0526-0547-E9DA-B054-EC4E91A6F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0BF7E06-BFB6-42FF-83A6-3140C504A50B}" type="slidenum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27297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E6DD3-CAF0-2327-57BE-1E2F9EC41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A57B1C-10F4-8072-5BF4-0E3F67D70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D01D08B1-0E9F-4A0C-BB84-E4EF4B6BD14A}" type="datetime1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04/07/2026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A8D159-747F-06E2-193E-4F05DC696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99B518-E0B6-A945-E12C-FB203C873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0BF7E06-BFB6-42FF-83A6-3140C504A50B}" type="slidenum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3057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EA4A5A-9BEA-AEC8-4EA1-CF2DF926D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15061044-B602-4A1F-9D7A-66D77E618B5D}" type="datetime1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04/07/2026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C77B88-2D53-266B-EDF7-3473ABBB6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10AF87-A398-1FA7-7054-5EE1763A1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0BF7E06-BFB6-42FF-83A6-3140C504A50B}" type="slidenum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68396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7CCB8-8B92-52B4-C9B6-624545437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C3F69-7D4D-9560-5C13-166D5B375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0BB955-F82B-4335-2249-10FF895A88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2264B5-41E1-A345-D372-F13EFE31A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1D0032B-E7AC-4922-8AFF-C002A13143E5}" type="datetime1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04/07/2026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5B6D16-B353-EB78-669A-22FDBD283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8A8DEA-674F-E7D0-B133-28A958949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0BF7E06-BFB6-42FF-83A6-3140C504A50B}" type="slidenum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11816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9885C-4F9F-478A-8E7B-3CB34D6F8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3E09B1-33AA-720B-EB7A-D7F322175E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285548-358B-E329-45FC-29C1C485B0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19A86C-A61F-53EE-4A8D-C2C3CF4E9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5208786-82EF-4D67-9CAC-10EEA909EB88}" type="datetime1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04/07/2026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75EFD8-62BE-91EE-B123-73DE2C94E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7BDB63-BF57-9E71-C293-3AE967251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0BF7E06-BFB6-42FF-83A6-3140C504A50B}" type="slidenum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87444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D3E8D-F2A5-130E-BCBA-BC7B303DF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BEB63B-9DAE-05BA-3EBE-63E0839359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D26C5-781C-E814-7F79-832192CD1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3E5D45A9-B157-4FB3-AEA4-4BBC5BA86B36}" type="datetime1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04/07/2026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602AA-310B-9E85-C377-120BCD207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6FB693-9AE8-27F3-E15F-3FBF562B6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0BF7E06-BFB6-42FF-83A6-3140C504A50B}" type="slidenum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48566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660108-B772-B4B3-6C98-F7BAF323A3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AE2F8C-38D9-07CE-D9FD-4892E7C9C3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2A274-22A1-A373-1018-533955AEB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6CB8F32E-9267-41C2-9CD8-35E9E1ACB72E}" type="datetime1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04/07/2026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C17A5-02D8-B3E1-9F67-BF6B67C43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4CE31-8EE5-BB06-8FBC-312E638DF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0BF7E06-BFB6-42FF-83A6-3140C504A50B}" type="slidenum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945213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 preserve="1">
  <p:cSld name="DEFAULT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51117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B6E50-7788-D401-1278-30FA170DD1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1F8BBC-7DC5-5ACF-4B40-39F901F2E6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B05DE-EB4B-839F-4C55-2E146C52F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3ADCB336-C7DF-4008-9285-77F13A9CDE85}" type="datetime1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04/07/2026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50275-60D1-9A0E-E90A-C9CB0865D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FE393-87B7-BF7D-7E03-91A2A2176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B14CB6FE-1EEB-4122-ACC5-9C2765BD27EF}" type="slidenum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800875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DDD85-489B-96C4-9871-2A114F089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9EA76-60F7-D582-A229-209EA8794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49175-DFC2-61C7-316C-A22B4C428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67282C28-DA8F-4217-A258-2B7500A0DF47}" type="datetime1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04/07/2026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DC89D-312B-EE39-08E6-D8BA632C9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98B27-0025-D5B4-9B3B-B7C045060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B14CB6FE-1EEB-4122-ACC5-9C2765BD27EF}" type="slidenum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318727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10645-82F9-7D48-DF1B-BC8819BA4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7E0C33-83D8-6C13-F4F6-E0D469BB9F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A9028-26D5-29CB-A738-2AF8AF74F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A65E798-FA39-4ED3-B5B1-00F44C9016BB}" type="datetime1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04/07/2026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0B9B6-A206-A628-FA83-E1DE12CCB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01BCC-CDD5-E308-23BC-D3DA4BC17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B14CB6FE-1EEB-4122-ACC5-9C2765BD27EF}" type="slidenum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390154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468CB-7737-0913-345B-FD637DF72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54CC8-A377-B235-2CC1-FB723B07D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782CBC-F411-4F70-71A8-BAD9948B7C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E07DB8-FEEB-7FD0-38F5-27C3CEBA0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504674E-3194-40B5-97E8-1D6B4C22D67C}" type="datetime1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04/07/2026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C12718-BC83-50DC-BA3C-F9914C2DD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F6B12-C25C-40CE-7BF7-D01F0116E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B14CB6FE-1EEB-4122-ACC5-9C2765BD27EF}" type="slidenum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43654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E3FEE-4BE6-9F4B-BEEF-B31F3F806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FAD202-A721-CCA6-A6C5-3D47F9D865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5928A9-B988-1F0B-0E4D-F25581C703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C1707A-2242-90EC-5399-CFFAA7DEE8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2C2F36-947E-2A45-9E3B-8AA11EB3CC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462F72-B927-0B5D-D58B-F56D288E9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6F22E448-F477-4E52-9480-982FF5BDBEC9}" type="datetime1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04/07/2026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A8F69B-2463-E0F7-361A-1FC0D1B2A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5B6F92-3CF8-FD59-4E82-46E1710EB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B14CB6FE-1EEB-4122-ACC5-9C2765BD27EF}" type="slidenum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112086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68ED4-0CD2-7E55-7A0E-B6281B5C1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4839A2-2A56-407A-88FD-5C9541714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B1B289C6-DD40-43CB-9337-D3044E6B0AFC}" type="datetime1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04/07/2026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156820-8068-8FEB-0384-27209DB66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C810FB-ABB0-2A4C-853E-2523111AE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B14CB6FE-1EEB-4122-ACC5-9C2765BD27EF}" type="slidenum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903801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183D97-D835-187E-8C34-CCC1B107B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DC00A8E0-91C6-4A9F-AF11-0E3E4970BBBA}" type="datetime1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04/07/2026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6F7E08-0F15-10B2-F7A5-7AE7A0D97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B39FF-B0D0-C25E-0941-9E60BF4B4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B14CB6FE-1EEB-4122-ACC5-9C2765BD27EF}" type="slidenum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2187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3248C-6E77-214C-7613-C2AAA411E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34F8A-0E70-E13E-980F-F95894E52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02EC2D-274B-8A26-2DF7-A2AB7E4BC5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37BFD5-2369-A57E-F8D3-B2AF001AB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43904A24-E821-43CD-A1E2-555EA46BE8D7}" type="datetime1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04/07/2026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0E9DB8-EC35-C98F-0E65-DB077F52B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014491-C431-7F50-7B34-CD997CAAF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B14CB6FE-1EEB-4122-ACC5-9C2765BD27EF}" type="slidenum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724497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BEF34-9979-DD9F-A893-CC2A5CD5A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2FDEA3-EB73-0F46-8C07-693DF0F2B1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C894F0-A9EB-2752-FD9D-4A526E5CE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F83713-143B-D45F-10E6-77CF21098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303CBE06-AA2D-4BE7-8926-0AC8992F12AF}" type="datetime1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04/07/2026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426836-6DB3-A09E-EE2B-CDE486F4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E2C41-11F6-E9C9-342D-A7EAAA215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B14CB6FE-1EEB-4122-ACC5-9C2765BD27EF}" type="slidenum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712922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10A1C-FD4E-BE07-AC73-629001EFD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E8988D-EFC3-8E30-8744-E2048DDC0F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76CD7-F90B-70A6-6117-97092AF86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16C0E7B-54EA-47F5-B855-2736BF60F262}" type="datetime1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04/07/2026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A57D8-DD16-69BC-5CE6-6E9C1F20E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ED63F7-7EA8-38FE-FA27-19B312BA3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B14CB6FE-1EEB-4122-ACC5-9C2765BD27EF}" type="slidenum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245770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DA6913-4689-0BF1-9366-7893E56658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FEDBD0-7A46-743D-717A-8FC5451231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FC7B5-B9FD-6EC9-C804-00F4E948E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B4E8179D-A002-45B0-BBED-EDDE803888D2}" type="datetime1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04/07/2026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EBDB3-F09F-FF70-D916-929F5AE97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E1340-2EE4-F2DD-FE8A-0882B2C2A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B14CB6FE-1EEB-4122-ACC5-9C2765BD27EF}" type="slidenum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664771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0E733-193C-96B6-9936-F5164B26E9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6A5398-399E-37A9-A833-EF2EC10D46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4DD57A-208A-4707-E861-D8B93A556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7BF28AEC-99B0-476E-8E5D-BFED1F9B3FF7}" type="datetime1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04/07/2026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DB9258-E5A3-87E1-19FC-F20A4A674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BAB231-E003-8A25-540A-C68563DAE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D4B58356-2B11-44CB-A5B4-4C5951EB2516}" type="slidenum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2424587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AF1C6-C5D1-F995-6399-0794A4810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73F09-4BA7-4A6C-5440-14E123B29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5A3511-F99E-46D2-A52E-D40636C58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6ECAB697-7D48-496F-9754-B15CA0CD5189}" type="datetime1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04/07/2026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C82C9-C568-FA5F-244D-670DEF79E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A5AC0-502F-D43D-6090-7E727FB90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D4B58356-2B11-44CB-A5B4-4C5951EB2516}" type="slidenum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07981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D343C-05DF-EFA1-A0E3-0C80C9AA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526586-4D0C-8A64-49D9-943D8F2FB8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40E68A-B5DE-1518-2A02-C935CF7DA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2DF1AAAD-6B32-4D43-AE5C-30A85650AA29}" type="datetime1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04/07/2026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92271-BF4B-A0B8-000A-6E3578313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856D8-2D54-F546-AD56-38653A916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D4B58356-2B11-44CB-A5B4-4C5951EB2516}" type="slidenum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384899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C2E28-12A6-31C6-E7AD-DA26BD014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58F1A-1740-BB0A-11AA-4DCDFFA747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5CF428-18B6-A66A-D8BB-52529542CC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CD3A07-8860-2333-994C-90B645A50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4B9051BA-216C-4BA3-B0BC-AD143975F9D8}" type="datetime1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04/07/2026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E99C6B-AECD-0C79-069F-F78B73C6E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517A87-E147-5A80-CEB9-5B8864BA7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D4B58356-2B11-44CB-A5B4-4C5951EB2516}" type="slidenum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8683788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742E8-499E-6015-DCD7-0E0D10FD6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4E439B-3E70-4FA3-6293-CC19D182F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EB37B7-84B1-D995-6758-984A8D9CD2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099349-C333-DC87-B9BC-CC0801C370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ACB458-440A-3108-D45B-0E54280882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AEC33B-F71D-63D2-7D71-E3DEA9647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D2ED5EDF-A08B-4BF4-97CA-E8F19EE11FA2}" type="datetime1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04/07/2026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3ACE12-BF45-6007-DB1B-24B9E590E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92EB28-092E-C689-778E-CE31F298D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D4B58356-2B11-44CB-A5B4-4C5951EB2516}" type="slidenum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333052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6D3D7-F26C-0CE2-2F30-45DFA2A83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07EB65-8E1C-6B90-B94D-CFE23DBDF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DE0A76-82DA-4947-ADB7-6FD845E00CE5}" type="datetime1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04/07/2026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BCA246-0E38-3BDE-F676-07900DF17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A77209-638F-88BF-83B1-370DAE2E8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D4B58356-2B11-44CB-A5B4-4C5951EB2516}" type="slidenum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7188943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E5502E-250B-180C-8599-CC67A3764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BEFBC49-7D5C-41C6-B164-993C52E5D3E7}" type="datetime1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04/07/2026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90ABD0-0910-953C-DEA3-017A0DDD6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23E7A4-37A9-7F17-2435-7C7D134F1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D4B58356-2B11-44CB-A5B4-4C5951EB2516}" type="slidenum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7352177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BF5F6-2945-3094-620E-BB4184661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E874C-FC9F-95D1-E0EC-2AB91D4E8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B0BB95-ECEE-1FD2-BC47-F9D1194BD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D6D734-493C-8922-84C8-140C742D3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60F0B4D0-B5E7-4B97-9FB6-0213A78595CC}" type="datetime1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04/07/2026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C07FCF-6B2F-E98C-BE4C-4B24FEF87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014CBA-9552-C60F-0F32-A44D2CD9F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D4B58356-2B11-44CB-A5B4-4C5951EB2516}" type="slidenum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7558831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1846A-7E16-EA83-560D-98C362FEB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2A677F-AF26-70D9-EA21-A09D3CC23F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0DC880-CE11-0055-6555-7FE0FE80FB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04841-3703-5486-8C65-2EBA9A846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399AACF6-36F7-47A8-BBC0-972CE101D78A}" type="datetime1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04/07/2026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204A90-4416-676F-BCDE-3843D0FC0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5DEDD0-8687-D56F-F8E8-480B6A623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D4B58356-2B11-44CB-A5B4-4C5951EB2516}" type="slidenum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1644100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3F872-71C9-E275-AEA7-DF76E6832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DE0B1D-1940-912D-7937-1A634408C2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08781-3981-6898-302B-425A1CD3B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B030F9CB-ACE4-4E10-AD61-372CF5518BF0}" type="datetime1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04/07/2026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D0EC64-DE37-F7D2-EC88-E29F404E9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A3669-593D-1C11-DFAA-BAF4694E5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D4B58356-2B11-44CB-A5B4-4C5951EB2516}" type="slidenum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817474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AE19DE-C414-5AB4-4169-83DD7942BD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8AE10C-B630-D99E-7018-DD95CE201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E9159-8199-4D4A-8EDD-70247AD37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936C898E-5C74-4D86-B376-1458BE8E2238}" type="datetime1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04/07/2026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53B12-60E5-6D74-A802-E72F49C17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7084E-2DBE-DF45-6660-9ED8A9731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D4B58356-2B11-44CB-A5B4-4C5951EB2516}" type="slidenum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38637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2CF7CD-3DF7-23FA-0758-C6996A651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B9406D-2F2A-744C-133B-1F118FC700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CEAAE-BC2F-3CFB-B2B3-920B668DC6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A1D4D655-F5C9-4513-9A8E-C03B3EB4346B}" type="datetime1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04/07/2026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7F99B7-0660-5DD6-BD10-A87934E266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1F75EA-E237-89FC-4EA6-5ADA43E0CB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0BF7E06-BFB6-42FF-83A6-3140C504A50B}" type="slidenum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pic>
        <p:nvPicPr>
          <p:cNvPr id="9" name="Picture 8" descr="The image depicts a simple, minimalistic, blue, circular network diagram with interconnected nodes, suggesting a web or network structure.&#10;&#10;AI-generated content may be incorrect.">
            <a:extLst>
              <a:ext uri="{FF2B5EF4-FFF2-40B4-BE49-F238E27FC236}">
                <a16:creationId xmlns:a16="http://schemas.microsoft.com/office/drawing/2014/main" id="{157CA43E-AC74-36BD-DD81-C7B604E9A0A0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6263304" y="-165904"/>
            <a:ext cx="2880696" cy="573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120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523970-8888-7E5F-ACC1-62F98953D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A2EDE5-09C0-0F42-965E-4BFA30E234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C1D2E-81A7-5361-5F19-FCA69F4C87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5992B84-15CC-4083-8FCE-ED1376571B3B}" type="datetime1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04/07/2026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A96BD-8FF0-BB59-C438-DBCF56BF02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6CF40-6835-2112-45EF-7D794A575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B14CB6FE-1EEB-4122-ACC5-9C2765BD27EF}" type="slidenum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pic>
        <p:nvPicPr>
          <p:cNvPr id="7" name="Picture 6" descr="The image depicts a simple, minimalistic, blue, circular network diagram with interconnected nodes, suggesting a web or network structure.&#10;&#10;AI-generated content may be incorrect.">
            <a:extLst>
              <a:ext uri="{FF2B5EF4-FFF2-40B4-BE49-F238E27FC236}">
                <a16:creationId xmlns:a16="http://schemas.microsoft.com/office/drawing/2014/main" id="{60304C9F-E9D5-B647-CF85-595FD770D5C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20000"/>
          </a:blip>
          <a:stretch>
            <a:fillRect/>
          </a:stretch>
        </p:blipFill>
        <p:spPr>
          <a:xfrm>
            <a:off x="6263304" y="-219244"/>
            <a:ext cx="2880696" cy="573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779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947434-4669-BCCA-F04D-C4152945E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6858E-421D-AF0B-D5BA-209A836A2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3CA9AF-E6F1-8B48-B94C-033C174895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658E385F-1257-422C-9DD0-7B4F147E7662}" type="datetime1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04/07/2026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B3D7AB-8751-171D-CB9E-2E46BE84F5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D1681-1621-7F2B-851F-A1E1DC9165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D4B58356-2B11-44CB-A5B4-4C5951EB2516}" type="slidenum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-TT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pic>
        <p:nvPicPr>
          <p:cNvPr id="7" name="Picture 6" descr="The image depicts a simple, minimalistic, blue, circular network diagram with interconnected nodes, suggesting a web or network structure.&#10;&#10;AI-generated content may be incorrect.">
            <a:extLst>
              <a:ext uri="{FF2B5EF4-FFF2-40B4-BE49-F238E27FC236}">
                <a16:creationId xmlns:a16="http://schemas.microsoft.com/office/drawing/2014/main" id="{83575280-18CE-F09C-2D9C-BE4AB62A45A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60000"/>
          </a:blip>
          <a:stretch>
            <a:fillRect/>
          </a:stretch>
        </p:blipFill>
        <p:spPr>
          <a:xfrm>
            <a:off x="6263304" y="-219244"/>
            <a:ext cx="2880696" cy="573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178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"/>
          <p:cNvSpPr txBox="1"/>
          <p:nvPr/>
        </p:nvSpPr>
        <p:spPr>
          <a:xfrm>
            <a:off x="457200" y="1277966"/>
            <a:ext cx="6968998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1E4A8E"/>
              </a:buClr>
              <a:buSzPts val="4000"/>
            </a:pPr>
            <a:r>
              <a:rPr lang="en-US" sz="4000" b="1" dirty="0">
                <a:solidFill>
                  <a:schemeClr val="accent1"/>
                </a:solidFill>
                <a:latin typeface="Aptos Black" panose="020B0004020202020204" pitchFamily="34" charset="0"/>
                <a:ea typeface="Cambria" panose="02040503050406030204" pitchFamily="18" charset="0"/>
                <a:cs typeface="Cambria" pitchFamily="34" charset="-120"/>
              </a:rPr>
              <a:t>ML Classification </a:t>
            </a:r>
          </a:p>
          <a:p>
            <a:pPr>
              <a:buClr>
                <a:srgbClr val="1E4A8E"/>
              </a:buClr>
              <a:buSzPts val="4000"/>
            </a:pPr>
            <a:r>
              <a:rPr lang="en-US" sz="4000" b="1" dirty="0">
                <a:solidFill>
                  <a:schemeClr val="accent2"/>
                </a:solidFill>
                <a:latin typeface="Aptos Black" panose="020B0004020202020204" pitchFamily="34" charset="0"/>
                <a:ea typeface="Cambria" panose="02040503050406030204" pitchFamily="18" charset="0"/>
                <a:cs typeface="Cambria" pitchFamily="34" charset="-120"/>
              </a:rPr>
              <a:t>for Clinical Data</a:t>
            </a:r>
            <a:endParaRPr lang="en-US" sz="4000" dirty="0">
              <a:solidFill>
                <a:schemeClr val="accent2"/>
              </a:solidFill>
              <a:latin typeface="Aptos Black" panose="020B0004020202020204" pitchFamily="34" charset="0"/>
              <a:ea typeface="Cambria" panose="02040503050406030204" pitchFamily="18" charset="0"/>
            </a:endParaRPr>
          </a:p>
        </p:txBody>
      </p:sp>
      <p:sp>
        <p:nvSpPr>
          <p:cNvPr id="241" name="Google Shape;241;p1"/>
          <p:cNvSpPr txBox="1"/>
          <p:nvPr/>
        </p:nvSpPr>
        <p:spPr>
          <a:xfrm>
            <a:off x="451393" y="3082559"/>
            <a:ext cx="558999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A8E"/>
              </a:buClr>
              <a:buSzPts val="1600"/>
              <a:buFont typeface="Play"/>
              <a:buNone/>
            </a:pPr>
            <a:r>
              <a:rPr lang="en-US" sz="1600" b="1" i="0" u="none" strike="noStrike" cap="none" dirty="0" err="1">
                <a:solidFill>
                  <a:srgbClr val="1E4A8E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Play"/>
              </a:rPr>
              <a:t>CariSurg</a:t>
            </a:r>
            <a:r>
              <a:rPr lang="en-US" sz="1600" b="1" i="0" u="none" strike="noStrike" cap="none" dirty="0">
                <a:solidFill>
                  <a:srgbClr val="1E4A8E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Play"/>
              </a:rPr>
              <a:t> MedTech Pathways  ·  Week 6  ·  Tutorial 1</a:t>
            </a:r>
            <a:endParaRPr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2" name="Google Shape;242;p1"/>
          <p:cNvSpPr txBox="1"/>
          <p:nvPr/>
        </p:nvSpPr>
        <p:spPr>
          <a:xfrm>
            <a:off x="445588" y="3426079"/>
            <a:ext cx="47548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Play"/>
              <a:buNone/>
            </a:pPr>
            <a:r>
              <a:rPr lang="en-US" sz="1200" dirty="0">
                <a:solidFill>
                  <a:srgbClr val="3F3F3F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Play"/>
              </a:rPr>
              <a:t>3</a:t>
            </a:r>
            <a:r>
              <a:rPr lang="en-US" sz="1200" b="0" i="0" u="none" strike="noStrike" cap="none" dirty="0">
                <a:solidFill>
                  <a:srgbClr val="3F3F3F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Play"/>
              </a:rPr>
              <a:t>0-minute live tutorial</a:t>
            </a:r>
            <a:endParaRPr sz="1200" b="0" i="0" u="none" strike="noStrike" cap="none" dirty="0">
              <a:solidFill>
                <a:srgbClr val="3F3F3F"/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  <a:sym typeface="Play"/>
            </a:endParaRPr>
          </a:p>
        </p:txBody>
      </p:sp>
      <p:sp>
        <p:nvSpPr>
          <p:cNvPr id="243" name="Google Shape;243;p1"/>
          <p:cNvSpPr/>
          <p:nvPr/>
        </p:nvSpPr>
        <p:spPr>
          <a:xfrm>
            <a:off x="548640" y="3764414"/>
            <a:ext cx="504000" cy="19050"/>
          </a:xfrm>
          <a:prstGeom prst="rect">
            <a:avLst/>
          </a:prstGeom>
          <a:solidFill>
            <a:srgbClr val="14A8B2"/>
          </a:solidFill>
          <a:ln w="12700" cap="flat" cmpd="sng">
            <a:solidFill>
              <a:srgbClr val="14A8B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"/>
          <p:cNvSpPr txBox="1"/>
          <p:nvPr/>
        </p:nvSpPr>
        <p:spPr>
          <a:xfrm>
            <a:off x="457200" y="3866748"/>
            <a:ext cx="3840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A8E"/>
              </a:buClr>
              <a:buSzPts val="1600"/>
              <a:buFont typeface="Play"/>
              <a:buNone/>
            </a:pPr>
            <a:r>
              <a:rPr lang="en-US" sz="1600" b="1" dirty="0">
                <a:solidFill>
                  <a:srgbClr val="1E4A8E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Play"/>
              </a:rPr>
              <a:t>Tutor Name</a:t>
            </a:r>
            <a:endParaRPr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5" name="Google Shape;245;p1"/>
          <p:cNvSpPr txBox="1"/>
          <p:nvPr/>
        </p:nvSpPr>
        <p:spPr>
          <a:xfrm>
            <a:off x="445588" y="4184272"/>
            <a:ext cx="4572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Play"/>
              <a:buNone/>
            </a:pPr>
            <a:r>
              <a:rPr lang="en-US" sz="1200" dirty="0">
                <a:solidFill>
                  <a:srgbClr val="3F3F3F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Play"/>
              </a:rPr>
              <a:t>Tutor Affiliation/Title</a:t>
            </a:r>
            <a:endParaRPr sz="1200" dirty="0">
              <a:solidFill>
                <a:srgbClr val="3F3F3F"/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  <a:sym typeface="Play"/>
            </a:endParaRPr>
          </a:p>
        </p:txBody>
      </p:sp>
      <p:pic>
        <p:nvPicPr>
          <p:cNvPr id="2" name="Image 0" descr="/tmp/uwi-render/slide-01.png">
            <a:extLst>
              <a:ext uri="{FF2B5EF4-FFF2-40B4-BE49-F238E27FC236}">
                <a16:creationId xmlns:a16="http://schemas.microsoft.com/office/drawing/2014/main" id="{ED7CDB95-567D-0CBF-0C90-233E8DD755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" t="16225" r="73333" b="72346"/>
          <a:stretch>
            <a:fillRect/>
          </a:stretch>
        </p:blipFill>
        <p:spPr>
          <a:xfrm>
            <a:off x="457200" y="171859"/>
            <a:ext cx="2748510" cy="815494"/>
          </a:xfrm>
          <a:prstGeom prst="rect">
            <a:avLst/>
          </a:prstGeom>
          <a:solidFill>
            <a:srgbClr val="14A8B2"/>
          </a:solidFill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5880" y="356616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A2540"/>
                </a:solidFill>
                <a:latin typeface="+mj-lt"/>
                <a:ea typeface="Cambria" pitchFamily="34" charset="-122"/>
                <a:cs typeface="Cambria" pitchFamily="34" charset="-120"/>
              </a:rPr>
              <a:t>What is classification?</a:t>
            </a:r>
            <a:endParaRPr lang="en-US" sz="2900" dirty="0">
              <a:latin typeface="+mj-lt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02920" y="393192"/>
            <a:ext cx="658368" cy="658368"/>
          </a:xfrm>
          <a:prstGeom prst="ellipse">
            <a:avLst/>
          </a:prstGeom>
          <a:solidFill>
            <a:srgbClr val="1B9AA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>
              <a:latin typeface="+mj-lt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557784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216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+mj-lt"/>
                <a:ea typeface="Calibri" pitchFamily="34" charset="-122"/>
                <a:cs typeface="Calibri" pitchFamily="34" charset="-120"/>
              </a:rPr>
              <a:t>A classifier sorts each patient into one of a fixed set of labelled boxes.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+mj-lt"/>
                <a:ea typeface="Calibri" pitchFamily="34" charset="-122"/>
                <a:cs typeface="Calibri" pitchFamily="34" charset="-120"/>
              </a:rPr>
              <a:t>Ours are the five ESI triage levels.</a:t>
            </a:r>
            <a:endParaRPr lang="en-US" sz="1600" dirty="0">
              <a:latin typeface="+mj-lt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02920" y="196596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7" name="Text 4"/>
          <p:cNvSpPr/>
          <p:nvPr/>
        </p:nvSpPr>
        <p:spPr>
          <a:xfrm>
            <a:off x="502920" y="214884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392B"/>
                </a:solidFill>
                <a:latin typeface="+mj-lt"/>
                <a:ea typeface="Cambria" pitchFamily="34" charset="-122"/>
                <a:cs typeface="Cambria" pitchFamily="34" charset="-120"/>
              </a:rPr>
              <a:t>ESI 1</a:t>
            </a:r>
            <a:endParaRPr lang="en-US" sz="2000" dirty="0">
              <a:latin typeface="+mj-lt"/>
            </a:endParaRPr>
          </a:p>
        </p:txBody>
      </p:sp>
      <p:sp>
        <p:nvSpPr>
          <p:cNvPr id="8" name="Text 5"/>
          <p:cNvSpPr/>
          <p:nvPr/>
        </p:nvSpPr>
        <p:spPr>
          <a:xfrm>
            <a:off x="502920" y="265176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A"/>
                </a:solidFill>
                <a:latin typeface="+mj-lt"/>
                <a:ea typeface="Calibri" pitchFamily="34" charset="-122"/>
                <a:cs typeface="Calibri" pitchFamily="34" charset="-120"/>
              </a:rPr>
              <a:t>Resuscitate</a:t>
            </a:r>
            <a:endParaRPr lang="en-US" sz="1300" dirty="0">
              <a:latin typeface="+mj-lt"/>
            </a:endParaRPr>
          </a:p>
        </p:txBody>
      </p:sp>
      <p:sp>
        <p:nvSpPr>
          <p:cNvPr id="9" name="Shape 6"/>
          <p:cNvSpPr/>
          <p:nvPr/>
        </p:nvSpPr>
        <p:spPr>
          <a:xfrm>
            <a:off x="2176272" y="196596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176272" y="214884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67E22"/>
                </a:solidFill>
                <a:latin typeface="+mj-lt"/>
                <a:ea typeface="Cambria" pitchFamily="34" charset="-122"/>
                <a:cs typeface="Cambria" pitchFamily="34" charset="-120"/>
              </a:rPr>
              <a:t>ESI 2</a:t>
            </a:r>
            <a:endParaRPr lang="en-US" sz="2000" dirty="0">
              <a:latin typeface="+mj-lt"/>
            </a:endParaRPr>
          </a:p>
        </p:txBody>
      </p:sp>
      <p:sp>
        <p:nvSpPr>
          <p:cNvPr id="11" name="Text 8"/>
          <p:cNvSpPr/>
          <p:nvPr/>
        </p:nvSpPr>
        <p:spPr>
          <a:xfrm>
            <a:off x="2176272" y="265176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A"/>
                </a:solidFill>
                <a:latin typeface="+mj-lt"/>
                <a:ea typeface="Calibri" pitchFamily="34" charset="-122"/>
                <a:cs typeface="Calibri" pitchFamily="34" charset="-120"/>
              </a:rPr>
              <a:t>Emergent</a:t>
            </a:r>
            <a:endParaRPr lang="en-US" sz="1300" dirty="0">
              <a:latin typeface="+mj-lt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849624" y="196596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849624" y="214884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B942"/>
                </a:solidFill>
                <a:latin typeface="+mj-lt"/>
                <a:ea typeface="Cambria" pitchFamily="34" charset="-122"/>
                <a:cs typeface="Cambria" pitchFamily="34" charset="-120"/>
              </a:rPr>
              <a:t>ESI 3</a:t>
            </a:r>
            <a:endParaRPr lang="en-US" sz="2000" dirty="0">
              <a:latin typeface="+mj-lt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849624" y="265176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A"/>
                </a:solidFill>
                <a:latin typeface="+mj-lt"/>
                <a:ea typeface="Calibri" pitchFamily="34" charset="-122"/>
                <a:cs typeface="Calibri" pitchFamily="34" charset="-120"/>
              </a:rPr>
              <a:t>Urgent</a:t>
            </a:r>
            <a:endParaRPr lang="en-US" sz="1300" dirty="0">
              <a:latin typeface="+mj-lt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5522976" y="196596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522976" y="214884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9AAA"/>
                </a:solidFill>
                <a:latin typeface="+mj-lt"/>
                <a:ea typeface="Cambria" pitchFamily="34" charset="-122"/>
                <a:cs typeface="Cambria" pitchFamily="34" charset="-120"/>
              </a:rPr>
              <a:t>ESI 4</a:t>
            </a:r>
            <a:endParaRPr lang="en-US" sz="2000" dirty="0">
              <a:latin typeface="+mj-lt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522976" y="265176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A"/>
                </a:solidFill>
                <a:latin typeface="+mj-lt"/>
                <a:ea typeface="Calibri" pitchFamily="34" charset="-122"/>
                <a:cs typeface="Calibri" pitchFamily="34" charset="-120"/>
              </a:rPr>
              <a:t>Less urgent</a:t>
            </a:r>
            <a:endParaRPr lang="en-US" sz="1300" dirty="0">
              <a:latin typeface="+mj-lt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196328" y="196596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196328" y="214884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A292"/>
                </a:solidFill>
                <a:latin typeface="+mj-lt"/>
                <a:ea typeface="Cambria" pitchFamily="34" charset="-122"/>
                <a:cs typeface="Cambria" pitchFamily="34" charset="-120"/>
              </a:rPr>
              <a:t>ESI 5</a:t>
            </a:r>
            <a:endParaRPr lang="en-US" sz="2000" dirty="0">
              <a:latin typeface="+mj-lt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196328" y="265176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A"/>
                </a:solidFill>
                <a:latin typeface="+mj-lt"/>
                <a:ea typeface="Calibri" pitchFamily="34" charset="-122"/>
                <a:cs typeface="Calibri" pitchFamily="34" charset="-120"/>
              </a:rPr>
              <a:t>Non-urgent</a:t>
            </a:r>
            <a:endParaRPr lang="en-US" sz="1300" dirty="0">
              <a:latin typeface="+mj-lt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02920" y="3749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7A"/>
                </a:solidFill>
                <a:latin typeface="+mj-lt"/>
                <a:ea typeface="Calibri" pitchFamily="34" charset="-122"/>
                <a:cs typeface="Calibri" pitchFamily="34" charset="-120"/>
              </a:rPr>
              <a:t>The model reads a patient's clues (age, vitals, chief complaints) and predicts which box they belong in.</a:t>
            </a:r>
            <a:endParaRPr lang="en-US" sz="1500" dirty="0"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4440" y="356616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Week 0 rules to a learned model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02920" y="393192"/>
            <a:ext cx="658368" cy="658368"/>
          </a:xfrm>
          <a:prstGeom prst="ellipse">
            <a:avLst/>
          </a:prstGeom>
          <a:solidFill>
            <a:srgbClr val="1B9AA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557784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234440"/>
            <a:ext cx="3977640" cy="3200400"/>
          </a:xfrm>
          <a:prstGeom prst="roundRect">
            <a:avLst>
              <a:gd name="adj" fmla="val 2286"/>
            </a:avLst>
          </a:prstGeom>
          <a:solidFill>
            <a:srgbClr val="F4F7F9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31520" y="1417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0 — you wrote the rules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31520" y="196596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spo2 &lt; 90 AND rr &gt; 24: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level = 1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hr &gt; 120: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level = 2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level = 3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663440" y="1234440"/>
            <a:ext cx="39776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892040" y="1417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9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6 — the model finds the rules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892040" y="196596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gave the thresholds by hand.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learns them from thousands of past patients.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weighs many clues at once — not just one IF at a time.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goal as your pseudocode: output an ESI level.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7008" y="420624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supervised learning pipeline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448056" y="457200"/>
            <a:ext cx="658368" cy="658368"/>
          </a:xfrm>
          <a:prstGeom prst="ellipse">
            <a:avLst/>
          </a:prstGeom>
          <a:solidFill>
            <a:srgbClr val="1B9AAA"/>
          </a:solidFill>
          <a:ln>
            <a:solidFill>
              <a:srgbClr val="1B9AAA"/>
            </a:solidFill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621792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554480"/>
            <a:ext cx="18745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207008" y="1783080"/>
            <a:ext cx="457200" cy="457200"/>
          </a:xfrm>
          <a:prstGeom prst="ellipse">
            <a:avLst/>
          </a:prstGeom>
          <a:solidFill>
            <a:srgbClr val="1B9AA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207008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02920" y="23774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94360" y="2743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clues per patient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2350008" y="187452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2651760" y="1554480"/>
            <a:ext cx="18745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355848" y="1783080"/>
            <a:ext cx="457200" cy="457200"/>
          </a:xfrm>
          <a:prstGeom prst="ellipse">
            <a:avLst/>
          </a:prstGeom>
          <a:solidFill>
            <a:srgbClr val="0A2540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355848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2651760" y="23774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2743200" y="2743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X → y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498848" y="187452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4800600" y="1554480"/>
            <a:ext cx="18745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504688" y="1783080"/>
            <a:ext cx="457200" cy="457200"/>
          </a:xfrm>
          <a:prstGeom prst="ellipse">
            <a:avLst/>
          </a:prstGeom>
          <a:solidFill>
            <a:srgbClr val="F4B942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504688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800600" y="23774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4892040" y="2743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ESI guess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647688" y="187452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6949440" y="1554480"/>
            <a:ext cx="18745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7653528" y="1783080"/>
            <a:ext cx="457200" cy="457200"/>
          </a:xfrm>
          <a:prstGeom prst="ellipse">
            <a:avLst/>
          </a:prstGeom>
          <a:solidFill>
            <a:srgbClr val="6BA292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653528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6949440" y="23774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7040880" y="2743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good is it?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612648" y="378561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we build this term walks these four steps. Today is concept; Tutorials 2–3 are the code.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">
            <a:extLst>
              <a:ext uri="{FF2B5EF4-FFF2-40B4-BE49-F238E27FC236}">
                <a16:creationId xmlns:a16="http://schemas.microsoft.com/office/drawing/2014/main" id="{BCB70300-1E39-078E-9D96-EF5B518F4D9F}"/>
              </a:ext>
            </a:extLst>
          </p:cNvPr>
          <p:cNvSpPr/>
          <p:nvPr/>
        </p:nvSpPr>
        <p:spPr>
          <a:xfrm>
            <a:off x="5228465" y="1102195"/>
            <a:ext cx="3603687" cy="3300297"/>
          </a:xfrm>
          <a:prstGeom prst="roundRect">
            <a:avLst>
              <a:gd name="adj" fmla="val 2667"/>
            </a:avLst>
          </a:prstGeom>
          <a:solidFill>
            <a:srgbClr val="F4F7F9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1271016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ESI is the target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02920" y="416745"/>
            <a:ext cx="658368" cy="658368"/>
          </a:xfrm>
          <a:prstGeom prst="ellipse">
            <a:avLst/>
          </a:prstGeom>
          <a:solidFill>
            <a:srgbClr val="1B9AA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581337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23444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600" i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Severity Index </a:t>
            </a: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(ESI) is a 5-level triage scale used at the front door of an ED.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one column we are trying to predict — the </a:t>
            </a:r>
            <a:r>
              <a:rPr lang="en-US" sz="16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</a:t>
            </a: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model learns from.</a:t>
            </a:r>
            <a:endParaRPr lang="en-US" sz="1600" dirty="0"/>
          </a:p>
          <a:p>
            <a:pPr marL="0" indent="0">
              <a:buNone/>
            </a:pPr>
            <a:endParaRPr lang="en-US" sz="1600" dirty="0">
              <a:solidFill>
                <a:srgbClr val="1B27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assigned by a trained nurse, so it is a defensible clinical ground truth — not something we invented.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40680" y="1280160"/>
            <a:ext cx="457200" cy="457200"/>
          </a:xfrm>
          <a:prstGeom prst="ellipse">
            <a:avLst/>
          </a:prstGeom>
          <a:solidFill>
            <a:srgbClr val="C0392B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4068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035040" y="126187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Resuscitation — immediate, life-saving</a:t>
            </a:r>
            <a:endParaRPr lang="en-US" sz="1280" dirty="0"/>
          </a:p>
        </p:txBody>
      </p:sp>
      <p:sp>
        <p:nvSpPr>
          <p:cNvPr id="9" name="Shape 6"/>
          <p:cNvSpPr/>
          <p:nvPr/>
        </p:nvSpPr>
        <p:spPr>
          <a:xfrm>
            <a:off x="5440680" y="1901952"/>
            <a:ext cx="457200" cy="457200"/>
          </a:xfrm>
          <a:prstGeom prst="ellipse">
            <a:avLst/>
          </a:prstGeom>
          <a:solidFill>
            <a:srgbClr val="E67E22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440680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035040" y="188366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Emergent — high risk, cannot wait</a:t>
            </a:r>
            <a:endParaRPr lang="en-US" sz="1280" dirty="0"/>
          </a:p>
        </p:txBody>
      </p:sp>
      <p:sp>
        <p:nvSpPr>
          <p:cNvPr id="12" name="Shape 9"/>
          <p:cNvSpPr/>
          <p:nvPr/>
        </p:nvSpPr>
        <p:spPr>
          <a:xfrm>
            <a:off x="5440680" y="2523744"/>
            <a:ext cx="457200" cy="457200"/>
          </a:xfrm>
          <a:prstGeom prst="ellipse">
            <a:avLst/>
          </a:prstGeom>
          <a:solidFill>
            <a:srgbClr val="F4B942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440680" y="2523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035040" y="250545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— needs several resources</a:t>
            </a:r>
            <a:endParaRPr lang="en-US" sz="1280" dirty="0"/>
          </a:p>
        </p:txBody>
      </p:sp>
      <p:sp>
        <p:nvSpPr>
          <p:cNvPr id="15" name="Shape 12"/>
          <p:cNvSpPr/>
          <p:nvPr/>
        </p:nvSpPr>
        <p:spPr>
          <a:xfrm>
            <a:off x="5440680" y="3145536"/>
            <a:ext cx="457200" cy="457200"/>
          </a:xfrm>
          <a:prstGeom prst="ellipse">
            <a:avLst/>
          </a:prstGeom>
          <a:solidFill>
            <a:srgbClr val="1B9AA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44068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035040" y="312724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urgent — one resource</a:t>
            </a:r>
            <a:endParaRPr lang="en-US" sz="1280" dirty="0"/>
          </a:p>
        </p:txBody>
      </p:sp>
      <p:sp>
        <p:nvSpPr>
          <p:cNvPr id="18" name="Shape 15"/>
          <p:cNvSpPr/>
          <p:nvPr/>
        </p:nvSpPr>
        <p:spPr>
          <a:xfrm>
            <a:off x="5440680" y="3767328"/>
            <a:ext cx="457200" cy="457200"/>
          </a:xfrm>
          <a:prstGeom prst="ellipse">
            <a:avLst/>
          </a:prstGeom>
          <a:solidFill>
            <a:srgbClr val="6BA292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440680" y="3767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035040" y="3749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Non-urgent — exam only</a:t>
            </a:r>
            <a:endParaRPr lang="en-US" sz="12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1288" y="149924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 is multi-class AND imbalanced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338328" y="201168"/>
            <a:ext cx="658368" cy="658368"/>
          </a:xfrm>
          <a:prstGeom prst="ellipse">
            <a:avLst/>
          </a:prstGeom>
          <a:solidFill>
            <a:srgbClr val="1B9AA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5760"/>
            <a:ext cx="329184" cy="32918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852160" y="1463040"/>
            <a:ext cx="2788920" cy="2743200"/>
          </a:xfrm>
          <a:prstGeom prst="roundRect">
            <a:avLst>
              <a:gd name="adj" fmla="val 2667"/>
            </a:avLst>
          </a:prstGeom>
          <a:solidFill>
            <a:srgbClr val="F4F7F9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08076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080760" y="210312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classes, not 2 (multi-class).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 3 dominates; ESI 1 is rare.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can score 'well' by ignoring the rare, critical class.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trap Tutorial 3 fixes.</a:t>
            </a:r>
            <a:endParaRPr lang="en-US" sz="1300" dirty="0"/>
          </a:p>
        </p:txBody>
      </p:sp>
      <p:pic>
        <p:nvPicPr>
          <p:cNvPr id="12" name="Picture 11" descr="The diagram represents a bar chart depicting the distribution of ESI scores, indicating the balance of ESG (Environmental, Social, Governance) factors across different categories.&#10;&#10;AI-generated content may be incorrect.">
            <a:extLst>
              <a:ext uri="{FF2B5EF4-FFF2-40B4-BE49-F238E27FC236}">
                <a16:creationId xmlns:a16="http://schemas.microsoft.com/office/drawing/2014/main" id="{9111DBBC-9A42-699B-7554-EB49EF7443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986972"/>
            <a:ext cx="4860979" cy="40370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4440" y="402336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two Week 6 models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495300" y="435864"/>
            <a:ext cx="658368" cy="658368"/>
          </a:xfrm>
          <a:prstGeom prst="ellipse">
            <a:avLst/>
          </a:prstGeom>
          <a:solidFill>
            <a:srgbClr val="1B9AA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92" y="600456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234440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31520" y="1426464"/>
            <a:ext cx="502920" cy="502920"/>
          </a:xfrm>
          <a:prstGeom prst="ellipse">
            <a:avLst/>
          </a:prstGeom>
          <a:solidFill>
            <a:srgbClr val="1B9AA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1536192"/>
            <a:ext cx="283464" cy="2834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39903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800" dirty="0"/>
          </a:p>
        </p:txBody>
      </p:sp>
      <p:pic>
        <p:nvPicPr>
          <p:cNvPr id="9" name="Image 2" descr="lr_sli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029968"/>
            <a:ext cx="3520440" cy="149047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31520" y="3639312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straight line between the classes. </a:t>
            </a: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feature scaling.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4663440" y="1234440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7"/>
          <p:cNvSpPr/>
          <p:nvPr/>
        </p:nvSpPr>
        <p:spPr>
          <a:xfrm>
            <a:off x="4892040" y="1426464"/>
            <a:ext cx="502920" cy="502920"/>
          </a:xfrm>
          <a:prstGeom prst="ellipse">
            <a:avLst/>
          </a:prstGeom>
          <a:solidFill>
            <a:srgbClr val="F4B942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768" y="1536192"/>
            <a:ext cx="283464" cy="28346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532120" y="139903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</a:t>
            </a:r>
            <a:endParaRPr lang="en-US" sz="1800" dirty="0"/>
          </a:p>
        </p:txBody>
      </p:sp>
      <p:pic>
        <p:nvPicPr>
          <p:cNvPr id="15" name="Image 4" descr="dt_sli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029968"/>
            <a:ext cx="3520440" cy="149047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892040" y="3639312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flowchart of yes/no questions. </a:t>
            </a: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scaling; easy to read.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020" y="402336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/ test split &amp; data leakage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25780" y="438912"/>
            <a:ext cx="658368" cy="658368"/>
          </a:xfrm>
          <a:prstGeom prst="ellipse">
            <a:avLst/>
          </a:prstGeom>
          <a:solidFill>
            <a:srgbClr val="1B9AA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603504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280160"/>
            <a:ext cx="4846320" cy="3108960"/>
          </a:xfrm>
          <a:prstGeom prst="roundRect">
            <a:avLst>
              <a:gd name="adj" fmla="val 2353"/>
            </a:avLst>
          </a:prstGeom>
          <a:solidFill>
            <a:srgbClr val="F4F7F9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31520" y="14630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80 / 20 rule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31520" y="1965960"/>
            <a:ext cx="3520440" cy="502920"/>
          </a:xfrm>
          <a:prstGeom prst="roundRect">
            <a:avLst>
              <a:gd name="adj" fmla="val 9091"/>
            </a:avLst>
          </a:prstGeom>
          <a:solidFill>
            <a:srgbClr val="1B9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31520" y="19659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 (80%)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1965960"/>
            <a:ext cx="868680" cy="502920"/>
          </a:xfrm>
          <a:prstGeom prst="roundRect">
            <a:avLst>
              <a:gd name="adj" fmla="val 9091"/>
            </a:avLst>
          </a:prstGeom>
          <a:solidFill>
            <a:srgbClr val="F4B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297680" y="196596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269748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stratify — keep the same ESI mix in both halves.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 — same split every run (reproducible).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set is a final exam the model never sees while training.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532120" y="1280160"/>
            <a:ext cx="3108960" cy="3108960"/>
          </a:xfrm>
          <a:prstGeom prst="roundRect">
            <a:avLst>
              <a:gd name="adj" fmla="val 2353"/>
            </a:avLst>
          </a:prstGeom>
          <a:solidFill>
            <a:srgbClr val="FBEAE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760720" y="1481328"/>
            <a:ext cx="502920" cy="502920"/>
          </a:xfrm>
          <a:prstGeom prst="ellipse">
            <a:avLst/>
          </a:prstGeom>
          <a:solidFill>
            <a:srgbClr val="C0392B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1591056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355080" y="1463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Avoid leakage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760720" y="2148840"/>
            <a:ext cx="2697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feed the model a column it could only know AFTER triage — e.g. disposition (admitted / discharged). It inflates scores and collapses in real use.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TT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4A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TUTORIAL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Tutorial 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3258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Implementing Logistic Regression &amp; Decision Tree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2926080"/>
            <a:ext cx="640080" cy="25603"/>
          </a:xfrm>
          <a:prstGeom prst="rect">
            <a:avLst/>
          </a:prstGeom>
          <a:solidFill>
            <a:srgbClr val="14A8B2"/>
          </a:solidFill>
          <a:ln w="12700">
            <a:solidFill>
              <a:srgbClr val="14A8B2"/>
            </a:solidFill>
            <a:prstDash val="solid"/>
          </a:ln>
        </p:spPr>
        <p:txBody>
          <a:bodyPr/>
          <a:lstStyle/>
          <a:p>
            <a:endParaRPr lang="en-TT"/>
          </a:p>
        </p:txBody>
      </p:sp>
      <p:sp>
        <p:nvSpPr>
          <p:cNvPr id="8" name="Text 6"/>
          <p:cNvSpPr/>
          <p:nvPr/>
        </p:nvSpPr>
        <p:spPr>
          <a:xfrm>
            <a:off x="411480" y="31089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4A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 BEFORE THEN?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33832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in </a:t>
            </a: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#ask-a-tutor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the command, the full error, and what you expected.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0" y="502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931920" y="1280160"/>
            <a:ext cx="4937760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TT"/>
          </a:p>
        </p:txBody>
      </p:sp>
      <p:sp>
        <p:nvSpPr>
          <p:cNvPr id="13" name="Shape 11"/>
          <p:cNvSpPr/>
          <p:nvPr/>
        </p:nvSpPr>
        <p:spPr>
          <a:xfrm>
            <a:off x="3931920" y="1280160"/>
            <a:ext cx="75895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TT"/>
          </a:p>
        </p:txBody>
      </p:sp>
      <p:sp>
        <p:nvSpPr>
          <p:cNvPr id="14" name="Shape 12"/>
          <p:cNvSpPr/>
          <p:nvPr/>
        </p:nvSpPr>
        <p:spPr>
          <a:xfrm>
            <a:off x="4114800" y="1463040"/>
            <a:ext cx="502920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TT"/>
          </a:p>
        </p:txBody>
      </p:sp>
      <p:sp>
        <p:nvSpPr>
          <p:cNvPr id="15" name="Text 13"/>
          <p:cNvSpPr/>
          <p:nvPr/>
        </p:nvSpPr>
        <p:spPr>
          <a:xfrm>
            <a:off x="4114800" y="146304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54880" y="144475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Models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1755648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learn from data to </a:t>
            </a: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patients into categories (in our case ESI boxes). There are many that exists.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931920" y="2350008"/>
            <a:ext cx="4937760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TT"/>
          </a:p>
        </p:txBody>
      </p:sp>
      <p:sp>
        <p:nvSpPr>
          <p:cNvPr id="19" name="Shape 17"/>
          <p:cNvSpPr/>
          <p:nvPr/>
        </p:nvSpPr>
        <p:spPr>
          <a:xfrm>
            <a:off x="3931920" y="2350008"/>
            <a:ext cx="75895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TT"/>
          </a:p>
        </p:txBody>
      </p:sp>
      <p:sp>
        <p:nvSpPr>
          <p:cNvPr id="20" name="Shape 18"/>
          <p:cNvSpPr/>
          <p:nvPr/>
        </p:nvSpPr>
        <p:spPr>
          <a:xfrm>
            <a:off x="4114800" y="2532888"/>
            <a:ext cx="502920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TT"/>
          </a:p>
        </p:txBody>
      </p:sp>
      <p:sp>
        <p:nvSpPr>
          <p:cNvPr id="21" name="Text 19"/>
          <p:cNvSpPr/>
          <p:nvPr/>
        </p:nvSpPr>
        <p:spPr>
          <a:xfrm>
            <a:off x="4114800" y="253288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24705" y="247741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54880" y="2766060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machine learning technique used for classification problems by predicting a probability an input belongs to a specific class.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931920" y="3419856"/>
            <a:ext cx="4937760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TT"/>
          </a:p>
        </p:txBody>
      </p:sp>
      <p:sp>
        <p:nvSpPr>
          <p:cNvPr id="25" name="Shape 23"/>
          <p:cNvSpPr/>
          <p:nvPr/>
        </p:nvSpPr>
        <p:spPr>
          <a:xfrm>
            <a:off x="3931920" y="3419856"/>
            <a:ext cx="75895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TT"/>
          </a:p>
        </p:txBody>
      </p:sp>
      <p:sp>
        <p:nvSpPr>
          <p:cNvPr id="26" name="Shape 24"/>
          <p:cNvSpPr/>
          <p:nvPr/>
        </p:nvSpPr>
        <p:spPr>
          <a:xfrm>
            <a:off x="4114800" y="3602736"/>
            <a:ext cx="502920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TT"/>
          </a:p>
        </p:txBody>
      </p:sp>
      <p:sp>
        <p:nvSpPr>
          <p:cNvPr id="27" name="Text 25"/>
          <p:cNvSpPr/>
          <p:nvPr/>
        </p:nvSpPr>
        <p:spPr>
          <a:xfrm>
            <a:off x="4114800" y="360273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754880" y="347563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754880" y="3786530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algorithm that creates a tree-like structure were each node is a decision rule. By following a set of decisions the model can predict a classification for an input.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931920" y="485180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Tutorial 1 · Introduction to ML Classification</a:t>
            </a:r>
            <a:endParaRPr lang="en-US" sz="9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8B00C-9CCC-EE70-6086-61A0003B6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12280" y="4735055"/>
            <a:ext cx="2057400" cy="27463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D4B58356-2B11-44CB-A5B4-4C5951EB2516}" type="slidenum">
              <a:rPr kumimoji="0" lang="en-TT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9</a:t>
            </a:fld>
            <a:endParaRPr kumimoji="0" lang="en-TT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2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in one line</a:t>
            </a:r>
            <a:endParaRPr lang="en-US" sz="3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sorts patients into the five ESI boxes.</a:t>
            </a:r>
            <a:endParaRPr lang="en-US" sz="1600" dirty="0">
              <a:solidFill>
                <a:schemeClr val="tx1"/>
              </a:solidFill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learns the rules you used to hand-code in Week 0.</a:t>
            </a:r>
            <a:endParaRPr lang="en-US" sz="1600" dirty="0">
              <a:solidFill>
                <a:schemeClr val="tx1"/>
              </a:solidFill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is </a:t>
            </a:r>
            <a:r>
              <a:rPr lang="en-US" sz="16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and imbalanced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accuracy alone will mislead.</a:t>
            </a:r>
            <a:endParaRPr lang="en-US" sz="1600" dirty="0">
              <a:solidFill>
                <a:schemeClr val="tx1"/>
              </a:solidFill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2 — build logistic regression and a decision tree.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CariSurg MedTech Pathways · Week 6 · Tutorial 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CariSurg">
      <a:dk1>
        <a:srgbClr val="000000"/>
      </a:dk1>
      <a:lt1>
        <a:srgbClr val="F4F6F7"/>
      </a:lt1>
      <a:dk2>
        <a:srgbClr val="44546A"/>
      </a:dk2>
      <a:lt2>
        <a:srgbClr val="F4F6F7"/>
      </a:lt2>
      <a:accent1>
        <a:srgbClr val="1E4A8E"/>
      </a:accent1>
      <a:accent2>
        <a:srgbClr val="14A8B2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1405</Words>
  <Application>Microsoft Office PowerPoint</Application>
  <PresentationFormat>On-screen Show (16:9)</PresentationFormat>
  <Paragraphs>127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22" baseType="lpstr">
      <vt:lpstr>Aptos Black</vt:lpstr>
      <vt:lpstr>Calibri</vt:lpstr>
      <vt:lpstr>Cambria</vt:lpstr>
      <vt:lpstr>Play</vt:lpstr>
      <vt:lpstr>Aptos</vt:lpstr>
      <vt:lpstr>Courier New</vt:lpstr>
      <vt:lpstr>Arial</vt:lpstr>
      <vt:lpstr>Aptos Display</vt:lpstr>
      <vt:lpstr>Consolas</vt:lpstr>
      <vt:lpstr>1_Custom Design</vt:lpstr>
      <vt:lpstr>2_Custom Design</vt:lpstr>
      <vt:lpstr>3_Custom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justin.sooknanan1</cp:lastModifiedBy>
  <cp:revision>4</cp:revision>
  <dcterms:created xsi:type="dcterms:W3CDTF">2026-05-13T19:23:44Z</dcterms:created>
  <dcterms:modified xsi:type="dcterms:W3CDTF">2026-07-04T18:39:47Z</dcterms:modified>
</cp:coreProperties>
</file>